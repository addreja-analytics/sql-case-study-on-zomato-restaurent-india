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Classic" charset="1" panose="00000500000000000000"/>
      <p:regular r:id="rId26"/>
    </p:embeddedFont>
    <p:embeddedFont>
      <p:font typeface="Montserrat Semi-Bold" charset="1" panose="00000700000000000000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  <p:embeddedFont>
      <p:font typeface="Montserrat Classic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4934" y="161109"/>
            <a:ext cx="6209910" cy="5377434"/>
            <a:chOff x="0" y="0"/>
            <a:chExt cx="7029450" cy="6087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29450" cy="6088380"/>
            </a:xfrm>
            <a:custGeom>
              <a:avLst/>
              <a:gdLst/>
              <a:ahLst/>
              <a:cxnLst/>
              <a:rect r="r" b="b" t="t" l="l"/>
              <a:pathLst>
                <a:path h="6088380" w="7029450">
                  <a:moveTo>
                    <a:pt x="5271770" y="0"/>
                  </a:moveTo>
                  <a:lnTo>
                    <a:pt x="1757680" y="0"/>
                  </a:lnTo>
                  <a:lnTo>
                    <a:pt x="0" y="3044190"/>
                  </a:lnTo>
                  <a:lnTo>
                    <a:pt x="0" y="4330700"/>
                  </a:lnTo>
                  <a:cubicBezTo>
                    <a:pt x="0" y="5300980"/>
                    <a:pt x="787400" y="6088380"/>
                    <a:pt x="1757680" y="6088380"/>
                  </a:cubicBezTo>
                  <a:lnTo>
                    <a:pt x="1757680" y="6088380"/>
                  </a:lnTo>
                  <a:lnTo>
                    <a:pt x="5271770" y="6088380"/>
                  </a:lnTo>
                  <a:lnTo>
                    <a:pt x="7029450" y="3044190"/>
                  </a:lnTo>
                  <a:lnTo>
                    <a:pt x="7029450" y="1757680"/>
                  </a:lnTo>
                  <a:cubicBezTo>
                    <a:pt x="7029450" y="787400"/>
                    <a:pt x="6242050" y="0"/>
                    <a:pt x="5271770" y="0"/>
                  </a:cubicBezTo>
                  <a:lnTo>
                    <a:pt x="5271770" y="0"/>
                  </a:lnTo>
                  <a:close/>
                </a:path>
              </a:pathLst>
            </a:custGeom>
            <a:blipFill>
              <a:blip r:embed="rId2"/>
              <a:stretch>
                <a:fillRect l="-32610" t="0" r="-3261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85119" y="5878058"/>
            <a:ext cx="338117" cy="338117"/>
          </a:xfrm>
          <a:custGeom>
            <a:avLst/>
            <a:gdLst/>
            <a:ahLst/>
            <a:cxnLst/>
            <a:rect r="r" b="b" t="t" l="l"/>
            <a:pathLst>
              <a:path h="338117" w="338117">
                <a:moveTo>
                  <a:pt x="0" y="0"/>
                </a:moveTo>
                <a:lnTo>
                  <a:pt x="338117" y="0"/>
                </a:lnTo>
                <a:lnTo>
                  <a:pt x="338117" y="338118"/>
                </a:lnTo>
                <a:lnTo>
                  <a:pt x="0" y="3381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59806" y="3221189"/>
            <a:ext cx="9799494" cy="112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6"/>
              </a:lnSpc>
            </a:pPr>
            <a:r>
              <a:rPr lang="en-US" sz="3261">
                <a:solidFill>
                  <a:srgbClr val="FDA715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         ZOMATO  RESTAURANTS  IN  INDIA  </a:t>
            </a:r>
          </a:p>
          <a:p>
            <a:pPr algn="l" marL="0" indent="0" lvl="0">
              <a:lnSpc>
                <a:spcPts val="4566"/>
              </a:lnSpc>
            </a:pPr>
            <a:r>
              <a:rPr lang="en-US" sz="3261">
                <a:solidFill>
                  <a:srgbClr val="FDA715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                                CASE   STUDY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821391" y="7432915"/>
            <a:ext cx="7320389" cy="1661430"/>
            <a:chOff x="0" y="0"/>
            <a:chExt cx="9760519" cy="221524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51465"/>
              <a:ext cx="9760519" cy="1463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12"/>
                </a:lnSpc>
              </a:pPr>
              <a:r>
                <a:rPr lang="en-US" sz="3222">
                  <a:solidFill>
                    <a:srgbClr val="E5E5E5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          ADDREJA CHAKRABORTY</a:t>
              </a:r>
            </a:p>
            <a:p>
              <a:pPr algn="l">
                <a:lnSpc>
                  <a:spcPts val="4512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9760519" cy="589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8"/>
                </a:lnSpc>
              </a:pPr>
              <a:r>
                <a:rPr lang="en-US" sz="2965">
                  <a:solidFill>
                    <a:srgbClr val="FDA715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         A RESEARCH  PROJECT BY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569" y="-161925"/>
            <a:ext cx="5704910" cy="143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08"/>
              </a:lnSpc>
            </a:pPr>
            <a:r>
              <a:rPr lang="en-US" sz="8363" b="true">
                <a:solidFill>
                  <a:srgbClr val="E3A62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456936"/>
            <a:ext cx="7674161" cy="5321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78" indent="-297539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CASE STUDY</a:t>
            </a:r>
          </a:p>
          <a:p>
            <a:pPr algn="l" marL="595078" indent="-297539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  <a:p>
            <a:pPr algn="l" marL="595078" indent="-297539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TABLE ANALYSIS</a:t>
            </a:r>
          </a:p>
          <a:p>
            <a:pPr algn="l" marL="595078" indent="-297539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IMPORTANT FACTOR TO OPTIMIZE THE BUSINESS</a:t>
            </a:r>
          </a:p>
          <a:p>
            <a:pPr algn="l" marL="595078" indent="-297539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NUMBER OF RESTAURANTS IN DIFFERENT CITIES</a:t>
            </a:r>
          </a:p>
          <a:p>
            <a:pPr algn="l" marL="595078" indent="-297539" lvl="1">
              <a:lnSpc>
                <a:spcPts val="3858"/>
              </a:lnSpc>
              <a:buFont typeface="Arial"/>
              <a:buChar char="•"/>
            </a:pPr>
            <a:r>
              <a:rPr lang="en-US" b="true" sz="2756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LOCALITY WHERE MOST NUMBER OF RESTAURANTS FOUND IN TOP FIVE CITIES WITH LARGEST NO. OF RESTAURANTS.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348109"/>
            <a:ext cx="8263828" cy="592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Locality where most number of restaurants found in top five cities with lesser no. of restaurants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TOP 10 CITIES WITH MOST EXPENSIVE RESTAURANTS.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TOP TEN CITIES WITH THE MOST AFFORDABLE RESTAURANTS.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TOP TEN CITIES WITH THE HIGHEST RESTAURANT RATINGS.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TOP TEN CITIES WITH THE LOWEST RESTAURANT RATINGS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FINDINGS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36393"/>
            <a:ext cx="15728030" cy="1050607"/>
            <a:chOff x="0" y="0"/>
            <a:chExt cx="4142362" cy="2767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2362" cy="276703"/>
            </a:xfrm>
            <a:custGeom>
              <a:avLst/>
              <a:gdLst/>
              <a:ahLst/>
              <a:cxnLst/>
              <a:rect r="r" b="b" t="t" l="l"/>
              <a:pathLst>
                <a:path h="276703" w="4142362">
                  <a:moveTo>
                    <a:pt x="0" y="0"/>
                  </a:moveTo>
                  <a:lnTo>
                    <a:pt x="4142362" y="0"/>
                  </a:lnTo>
                  <a:lnTo>
                    <a:pt x="4142362" y="276703"/>
                  </a:lnTo>
                  <a:lnTo>
                    <a:pt x="0" y="276703"/>
                  </a:lnTo>
                  <a:close/>
                </a:path>
              </a:pathLst>
            </a:custGeom>
            <a:solidFill>
              <a:srgbClr val="1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42362" cy="314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4672" y="203034"/>
            <a:ext cx="8045886" cy="5518242"/>
          </a:xfrm>
          <a:custGeom>
            <a:avLst/>
            <a:gdLst/>
            <a:ahLst/>
            <a:cxnLst/>
            <a:rect r="r" b="b" t="t" l="l"/>
            <a:pathLst>
              <a:path h="5518242" w="8045886">
                <a:moveTo>
                  <a:pt x="0" y="0"/>
                </a:moveTo>
                <a:lnTo>
                  <a:pt x="8045885" y="0"/>
                </a:lnTo>
                <a:lnTo>
                  <a:pt x="8045885" y="5518242"/>
                </a:lnTo>
                <a:lnTo>
                  <a:pt x="0" y="551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96" r="-16542" b="-916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869844" y="725809"/>
            <a:ext cx="8115300" cy="7718141"/>
            <a:chOff x="0" y="0"/>
            <a:chExt cx="10820400" cy="1029085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2375791"/>
              <a:ext cx="10820400" cy="7915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69286" indent="-334643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DA715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This case study consists a dataset  which represents</a:t>
              </a:r>
            </a:p>
            <a:p>
              <a:pPr algn="l" marL="669286" indent="-334643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DA715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The restaurants name  with the name of the city where it is located .Also specify the locality.</a:t>
              </a:r>
            </a:p>
            <a:p>
              <a:pPr algn="l" marL="669286" indent="-334643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DA715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The average cost of meal for two peple.</a:t>
              </a:r>
            </a:p>
            <a:p>
              <a:pPr algn="l" marL="669286" indent="-334643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DA715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The price range of the restaurants.</a:t>
              </a:r>
            </a:p>
            <a:p>
              <a:pPr algn="l" marL="669286" indent="-334643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FDA715"/>
                  </a:solidFill>
                  <a:latin typeface="Montserrat Classic"/>
                  <a:ea typeface="Montserrat Classic"/>
                  <a:cs typeface="Montserrat Classic"/>
                  <a:sym typeface="Montserrat Classic"/>
                </a:rPr>
                <a:t>The overall rating of the restaurants with textual descriptions of the rating.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6675"/>
              <a:ext cx="10820400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b="true" sz="8000">
                  <a:solidFill>
                    <a:srgbClr val="1B4444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 </a:t>
              </a:r>
              <a:r>
                <a:rPr lang="en-US" b="true" sz="8000">
                  <a:solidFill>
                    <a:srgbClr val="FDA715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CASE STUDY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257359" y="413354"/>
          <a:ext cx="9096765" cy="3576669"/>
        </p:xfrm>
        <a:graphic>
          <a:graphicData uri="http://schemas.openxmlformats.org/drawingml/2006/table">
            <a:tbl>
              <a:tblPr/>
              <a:tblGrid>
                <a:gridCol w="5098464"/>
              </a:tblGrid>
              <a:tr h="182695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true">
                          <a:solidFill>
                            <a:srgbClr val="1B4444"/>
                          </a:solidFill>
                          <a:latin typeface="Montserrat Classic Bold"/>
                          <a:ea typeface="Montserrat Classic Bold"/>
                          <a:cs typeface="Montserrat Classic Bold"/>
                          <a:sym typeface="Montserrat Classic Bold"/>
                        </a:rPr>
                        <a:t>OBJECTIVES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715"/>
                    </a:solidFill>
                  </a:tcPr>
                </a:tc>
              </a:tr>
              <a:tr h="1749715">
                <a:tc>
                  <a:txBody>
                    <a:bodyPr anchor="t" rtlCol="false"/>
                    <a:lstStyle/>
                    <a:p>
                      <a:pPr algn="l" marL="582928" indent="-291464" lvl="1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>
                          <a:solidFill>
                            <a:srgbClr val="1B4444"/>
                          </a:solidFill>
                          <a:latin typeface="Montserrat Classic"/>
                          <a:ea typeface="Montserrat Classic"/>
                          <a:cs typeface="Montserrat Classic"/>
                          <a:sym typeface="Montserrat Classic"/>
                        </a:rPr>
                        <a:t>Analyse the number of  restaurants in each city.</a:t>
                      </a:r>
                      <a:endParaRPr lang="en-US" sz="1100"/>
                    </a:p>
                    <a:p>
                      <a:pPr algn="l" marL="582928" indent="-291464" lvl="1">
                        <a:lnSpc>
                          <a:spcPts val="3779"/>
                        </a:lnSpc>
                        <a:buFont typeface="Arial"/>
                        <a:buChar char="•"/>
                      </a:pPr>
                      <a:r>
                        <a:rPr lang="en-US" sz="2699">
                          <a:solidFill>
                            <a:srgbClr val="1B4444"/>
                          </a:solidFill>
                          <a:latin typeface="Montserrat Classic"/>
                          <a:ea typeface="Montserrat Classic"/>
                          <a:cs typeface="Montserrat Classic"/>
                          <a:sym typeface="Montserrat Classic"/>
                        </a:rPr>
                        <a:t>Publish the findings based on data analysis.</a:t>
                      </a: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612649" y="3990023"/>
            <a:ext cx="7417079" cy="5100198"/>
            <a:chOff x="0" y="0"/>
            <a:chExt cx="6159500" cy="42354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59500" cy="4235450"/>
            </a:xfrm>
            <a:custGeom>
              <a:avLst/>
              <a:gdLst/>
              <a:ahLst/>
              <a:cxnLst/>
              <a:rect r="r" b="b" t="t" l="l"/>
              <a:pathLst>
                <a:path h="4235450" w="6159500">
                  <a:moveTo>
                    <a:pt x="6159500" y="4235450"/>
                  </a:moveTo>
                  <a:lnTo>
                    <a:pt x="0" y="3696970"/>
                  </a:lnTo>
                  <a:lnTo>
                    <a:pt x="0" y="0"/>
                  </a:lnTo>
                  <a:lnTo>
                    <a:pt x="6159500" y="538480"/>
                  </a:lnTo>
                  <a:close/>
                </a:path>
              </a:pathLst>
            </a:custGeom>
            <a:blipFill>
              <a:blip r:embed="rId2"/>
              <a:stretch>
                <a:fillRect l="-12323" t="0" r="-12323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6329553" y="1028700"/>
          <a:ext cx="11227830" cy="5260288"/>
        </p:xfrm>
        <a:graphic>
          <a:graphicData uri="http://schemas.openxmlformats.org/drawingml/2006/table">
            <a:tbl>
              <a:tblPr/>
              <a:tblGrid>
                <a:gridCol w="7767067"/>
              </a:tblGrid>
              <a:tr h="21372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true">
                          <a:solidFill>
                            <a:srgbClr val="1B4444"/>
                          </a:solidFill>
                          <a:latin typeface="Montserrat Classic Bold"/>
                          <a:ea typeface="Montserrat Classic Bold"/>
                          <a:cs typeface="Montserrat Classic Bold"/>
                          <a:sym typeface="Montserrat Classic Bold"/>
                        </a:rPr>
                        <a:t>TABLE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715"/>
                    </a:solidFill>
                  </a:tcPr>
                </a:tc>
              </a:tr>
              <a:tr h="3122999">
                <a:tc>
                  <a:txBody>
                    <a:bodyPr anchor="t" rtlCol="false"/>
                    <a:lstStyle/>
                    <a:p>
                      <a:pPr algn="l" marL="626107" indent="-313054" lvl="1">
                        <a:lnSpc>
                          <a:spcPts val="40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899">
                          <a:solidFill>
                            <a:srgbClr val="E5E5E5"/>
                          </a:solidFill>
                          <a:latin typeface="Montserrat Classic"/>
                          <a:ea typeface="Montserrat Classic"/>
                          <a:cs typeface="Montserrat Classic"/>
                          <a:sym typeface="Montserrat Classic"/>
                        </a:rPr>
                        <a:t>For analysing the data important attributes should be listed out.</a:t>
                      </a:r>
                      <a:endParaRPr lang="en-US" sz="1100"/>
                    </a:p>
                    <a:p>
                      <a:pPr algn="l" marL="626107" indent="-313054" lvl="1">
                        <a:lnSpc>
                          <a:spcPts val="4059"/>
                        </a:lnSpc>
                        <a:buFont typeface="Arial"/>
                        <a:buChar char="•"/>
                      </a:pPr>
                      <a:r>
                        <a:rPr lang="en-US" sz="2899">
                          <a:solidFill>
                            <a:srgbClr val="E5E5E5"/>
                          </a:solidFill>
                          <a:latin typeface="Montserrat Classic"/>
                          <a:ea typeface="Montserrat Classic"/>
                          <a:cs typeface="Montserrat Classic"/>
                          <a:sym typeface="Montserrat Classic"/>
                        </a:rPr>
                        <a:t>In this case study, there are a table called 'Restaurants'  consisting all details like res_id,res_name,city ,location ,rating,average cost for two ,food details .</a:t>
                      </a:r>
                    </a:p>
                  </a:txBody>
                  <a:tcPr marL="190500" marR="190500" marT="190500" marB="190500" anchor="t">
                    <a:lnL cmpd="sng" algn="ctr" cap="flat" w="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DA7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517975" y="3259822"/>
            <a:ext cx="4964399" cy="4964379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t="0" r="-2499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710989" y="9610567"/>
            <a:ext cx="548311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10"/>
              </a:lnSpc>
              <a:spcBef>
                <a:spcPct val="0"/>
              </a:spcBef>
            </a:pPr>
            <a:r>
              <a:rPr lang="en-US" b="true" sz="1700">
                <a:solidFill>
                  <a:srgbClr val="1B4444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368062"/>
            <a:chOff x="0" y="0"/>
            <a:chExt cx="4816593" cy="3603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60313"/>
            </a:xfrm>
            <a:custGeom>
              <a:avLst/>
              <a:gdLst/>
              <a:ahLst/>
              <a:cxnLst/>
              <a:rect r="r" b="b" t="t" l="l"/>
              <a:pathLst>
                <a:path h="36031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60313"/>
                  </a:lnTo>
                  <a:lnTo>
                    <a:pt x="0" y="360313"/>
                  </a:lnTo>
                  <a:close/>
                </a:path>
              </a:pathLst>
            </a:custGeom>
            <a:solidFill>
              <a:srgbClr val="1B44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98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990745" y="341244"/>
            <a:ext cx="6306510" cy="1374911"/>
            <a:chOff x="0" y="0"/>
            <a:chExt cx="8408680" cy="183321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77344"/>
              <a:ext cx="8408680" cy="355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6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8575"/>
              <a:ext cx="8408680" cy="1326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848"/>
                </a:lnSpc>
                <a:spcBef>
                  <a:spcPct val="0"/>
                </a:spcBef>
              </a:pPr>
              <a:r>
                <a:rPr lang="en-US" b="true" sz="3498">
                  <a:solidFill>
                    <a:srgbClr val="FDA715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   IMPORTANT FACTOR TO OPTIMIZE THE BUSINESS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41814" y="2542150"/>
            <a:ext cx="1190371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Number of restaurants in different cities.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Overall rating of different restaurants in each city.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cost of meals in restaurants.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Facilities of customers.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16941" y="1076325"/>
            <a:ext cx="12616564" cy="146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55"/>
              </a:lnSpc>
              <a:spcBef>
                <a:spcPct val="0"/>
              </a:spcBef>
            </a:pPr>
            <a:r>
              <a:rPr lang="en-US" sz="5232">
                <a:solidFill>
                  <a:srgbClr val="FDA715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         NUMBER OF RESTAURANTS IN                         DIFFERENT CITIES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64277" y="3578380"/>
            <a:ext cx="5892960" cy="455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3477" indent="-351738" lvl="1">
              <a:lnSpc>
                <a:spcPts val="4561"/>
              </a:lnSpc>
              <a:buFont typeface="Arial"/>
              <a:buChar char="•"/>
            </a:pPr>
            <a:r>
              <a:rPr lang="en-US" sz="3258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Chennai , Mumbai,Bangalore,Pune ,Lucknow have more restaurants.</a:t>
            </a:r>
          </a:p>
          <a:p>
            <a:pPr algn="l" marL="703477" indent="-351738" lvl="1">
              <a:lnSpc>
                <a:spcPts val="4561"/>
              </a:lnSpc>
              <a:buFont typeface="Arial"/>
              <a:buChar char="•"/>
            </a:pPr>
            <a:r>
              <a:rPr lang="en-US" sz="3258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Nayagaon, Greater Noida,Howrah,Faridabad,Ghaziabad have lesser no. of restaurants.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53008" y="1093523"/>
            <a:ext cx="11185325" cy="973335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0" y="553717"/>
            <a:ext cx="9144000" cy="1471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>
                <a:solidFill>
                  <a:srgbClr val="1425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PIE CHART REPRESENTS THE DISTRIBUTION OF THE TOP TEN CITIES WITH THE MOST  NUMBER OF RESTAURANTS.</a:t>
            </a:r>
            <a:r>
              <a:rPr lang="en-US" b="true" sz="2800">
                <a:solidFill>
                  <a:srgbClr val="7F401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31565" y="1555933"/>
            <a:ext cx="10666076" cy="939376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0" y="341817"/>
            <a:ext cx="13159560" cy="1171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7"/>
              </a:lnSpc>
            </a:pPr>
            <a:r>
              <a:rPr lang="en-US" b="true" sz="3362">
                <a:solidFill>
                  <a:srgbClr val="2522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PIE CHART REPRESENTS THE DISTRIBUTION OF THE TOP TEN CITIES WITH THE LESSER</a:t>
            </a:r>
            <a:r>
              <a:rPr lang="en-US" b="true" sz="3362">
                <a:solidFill>
                  <a:srgbClr val="25222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NUMBER OF RESTAURANTS.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3509" y="3265722"/>
            <a:ext cx="6778781" cy="5970671"/>
          </a:xfrm>
          <a:custGeom>
            <a:avLst/>
            <a:gdLst/>
            <a:ahLst/>
            <a:cxnLst/>
            <a:rect r="r" b="b" t="t" l="l"/>
            <a:pathLst>
              <a:path h="5970671" w="6778781">
                <a:moveTo>
                  <a:pt x="0" y="0"/>
                </a:moveTo>
                <a:lnTo>
                  <a:pt x="6778780" y="0"/>
                </a:lnTo>
                <a:lnTo>
                  <a:pt x="6778780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453" t="0" r="-898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9412" y="791587"/>
            <a:ext cx="13723071" cy="239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b="true" sz="4600">
                <a:solidFill>
                  <a:srgbClr val="FDA7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LOCALITY WHERE MOST NUMBER OF RESTAURANTS FOUND IN TOP FIVE CITIES WITH LARGEST NO. OF RESTAURANTS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83433" y="3269204"/>
            <a:ext cx="9227556" cy="6935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536" indent="-286268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Chennai  can be found on T.Nagar, Potheri,Nungambakkam,Kodambakkam,Anna Nagar East.</a:t>
            </a:r>
          </a:p>
          <a:p>
            <a:pPr algn="l" marL="572536" indent="-286268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Mumbai can be found on Powai, Andheri Lokhandwala,Andheri West,Malad West,Borivali West.</a:t>
            </a:r>
          </a:p>
          <a:p>
            <a:pPr algn="l" marL="572536" indent="-286268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Bangalore  can be found on Indiranagar, Koramangala 5th block,HSR.</a:t>
            </a:r>
          </a:p>
          <a:p>
            <a:pPr algn="l" marL="572536" indent="-286268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Pune can be found on  Baner,Koregaon Park,Viman Nagar,Kothrud.</a:t>
            </a:r>
          </a:p>
          <a:p>
            <a:pPr algn="l" marL="572536" indent="-286268" lvl="1">
              <a:lnSpc>
                <a:spcPts val="3712"/>
              </a:lnSpc>
              <a:buFont typeface="Arial"/>
              <a:buChar char="•"/>
            </a:pPr>
            <a:r>
              <a:rPr lang="en-US" sz="2651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Lucknow can be found on </a:t>
            </a:r>
          </a:p>
          <a:p>
            <a:pPr algn="l">
              <a:lnSpc>
                <a:spcPts val="3448"/>
              </a:lnSpc>
            </a:pPr>
          </a:p>
          <a:p>
            <a:pPr algn="l">
              <a:lnSpc>
                <a:spcPts val="344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9761" y="952500"/>
            <a:ext cx="15562121" cy="138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2"/>
              </a:lnSpc>
            </a:pPr>
            <a:r>
              <a:rPr lang="en-US" sz="3965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965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LOCALITY WHERE MOST NUMBER OF RESTAURANTS FOUND IN TOP FIVE CITIES WITH LESSER NO. OF RESTAURANTS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44531" y="2901978"/>
            <a:ext cx="7517016" cy="444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449" indent="-301725" lvl="1">
              <a:lnSpc>
                <a:spcPts val="3913"/>
              </a:lnSpc>
              <a:buFont typeface="Arial"/>
              <a:buChar char="•"/>
            </a:pPr>
            <a:r>
              <a:rPr lang="en-US" sz="2795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Nayagaon can be found on Nayagaon.</a:t>
            </a:r>
          </a:p>
          <a:p>
            <a:pPr algn="l" marL="603449" indent="-301725" lvl="1">
              <a:lnSpc>
                <a:spcPts val="3913"/>
              </a:lnSpc>
              <a:buFont typeface="Arial"/>
              <a:buChar char="•"/>
            </a:pPr>
            <a:r>
              <a:rPr lang="en-US" sz="2795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Greater Noida can be found on Delta1,Gaur City 1 , Gaur City 2.</a:t>
            </a:r>
          </a:p>
          <a:p>
            <a:pPr algn="l" marL="603449" indent="-301725" lvl="1">
              <a:lnSpc>
                <a:spcPts val="3913"/>
              </a:lnSpc>
              <a:buFont typeface="Arial"/>
              <a:buChar char="•"/>
            </a:pPr>
            <a:r>
              <a:rPr lang="en-US" sz="2795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majority of restaurants in Howrah  can be found on  Avani Riverside Mall, Shibpur ,Dobson Road.</a:t>
            </a:r>
          </a:p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34994" y="4618815"/>
            <a:ext cx="6406175" cy="3683440"/>
          </a:xfrm>
          <a:custGeom>
            <a:avLst/>
            <a:gdLst/>
            <a:ahLst/>
            <a:cxnLst/>
            <a:rect r="r" b="b" t="t" l="l"/>
            <a:pathLst>
              <a:path h="3683440" w="6406175">
                <a:moveTo>
                  <a:pt x="0" y="0"/>
                </a:moveTo>
                <a:lnTo>
                  <a:pt x="6406175" y="0"/>
                </a:lnTo>
                <a:lnTo>
                  <a:pt x="6406175" y="3683440"/>
                </a:lnTo>
                <a:lnTo>
                  <a:pt x="0" y="3683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5512" y="962025"/>
            <a:ext cx="10321386" cy="352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8338" indent="-309169" lvl="1">
              <a:lnSpc>
                <a:spcPts val="4009"/>
              </a:lnSpc>
              <a:buFont typeface="Arial"/>
              <a:buChar char="•"/>
            </a:pPr>
            <a:r>
              <a:rPr lang="en-US" sz="2864">
                <a:solidFill>
                  <a:srgbClr val="FDA715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The majority of restaurants in Faridabad can be found on NIT,Sector 16, Vivanta by Taj, Suraj Kund,Sector 25.</a:t>
            </a:r>
          </a:p>
          <a:p>
            <a:pPr algn="l" marL="618338" indent="-309169" lvl="1">
              <a:lnSpc>
                <a:spcPts val="4009"/>
              </a:lnSpc>
              <a:buFont typeface="Arial"/>
              <a:buChar char="•"/>
            </a:pPr>
            <a:r>
              <a:rPr lang="en-US" sz="2864">
                <a:solidFill>
                  <a:srgbClr val="FDA715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The majority of restaurants in Ghaziabad can be found on Indirapuram,Indirapuram Habitat Centre,Raj Nagar.</a:t>
            </a:r>
          </a:p>
          <a:p>
            <a:pPr algn="l">
              <a:lnSpc>
                <a:spcPts val="400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75512" y="4448859"/>
            <a:ext cx="11340321" cy="157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9"/>
              </a:lnSpc>
            </a:pPr>
            <a:r>
              <a:rPr lang="en-US" sz="4513" b="true">
                <a:solidFill>
                  <a:srgbClr val="BF82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Apart from these areas, the quantity of restaurant in other areas is very limited.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4772" y="2808203"/>
            <a:ext cx="10295150" cy="611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followings cities have the most expensive restaurants:</a:t>
            </a:r>
          </a:p>
          <a:p>
            <a:pPr algn="l">
              <a:lnSpc>
                <a:spcPts val="4050"/>
              </a:lnSpc>
            </a:pP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Mumbai                                       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 Delhi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Gurgaon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Bangalore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Pune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Goa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Noida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Hydrabad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Chennai</a:t>
            </a:r>
          </a:p>
          <a:p>
            <a:pPr algn="l" marL="624697" indent="-312349" lvl="1">
              <a:lnSpc>
                <a:spcPts val="4050"/>
              </a:lnSpc>
              <a:buFont typeface="Arial"/>
              <a:buChar char="•"/>
            </a:pPr>
            <a:r>
              <a:rPr lang="en-US" sz="289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Jaipur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366794" y="6579678"/>
            <a:ext cx="3921206" cy="3707322"/>
          </a:xfrm>
          <a:custGeom>
            <a:avLst/>
            <a:gdLst/>
            <a:ahLst/>
            <a:cxnLst/>
            <a:rect r="r" b="b" t="t" l="l"/>
            <a:pathLst>
              <a:path h="3707322" w="3921206">
                <a:moveTo>
                  <a:pt x="0" y="0"/>
                </a:moveTo>
                <a:lnTo>
                  <a:pt x="3921206" y="0"/>
                </a:lnTo>
                <a:lnTo>
                  <a:pt x="3921206" y="3707322"/>
                </a:lnTo>
                <a:lnTo>
                  <a:pt x="0" y="370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83991" y="338652"/>
            <a:ext cx="15872542" cy="204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3"/>
              </a:lnSpc>
            </a:pPr>
            <a:r>
              <a:rPr lang="en-US" b="true" sz="5866">
                <a:solidFill>
                  <a:srgbClr val="FDA7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 10 CITIES WITH MOST EXPENSIVE RESTAURANTS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3657" y="3350102"/>
            <a:ext cx="8665614" cy="624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followings cities have the most expensive restaurants: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Junagadh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Jamnagar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Amravati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Kharagpur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Jhansi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Tirupati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Kota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Vellore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Trichy</a:t>
            </a:r>
          </a:p>
          <a:p>
            <a:pPr algn="l" marL="554938" indent="-277469" lvl="1">
              <a:lnSpc>
                <a:spcPts val="3598"/>
              </a:lnSpc>
              <a:buFont typeface="Arial"/>
              <a:buChar char="•"/>
            </a:pPr>
            <a:r>
              <a:rPr lang="en-US" sz="257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Meerut</a:t>
            </a:r>
          </a:p>
          <a:p>
            <a:pPr algn="l">
              <a:lnSpc>
                <a:spcPts val="3598"/>
              </a:lnSpc>
            </a:pPr>
          </a:p>
          <a:p>
            <a:pPr algn="l">
              <a:lnSpc>
                <a:spcPts val="3598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461176" y="4441409"/>
            <a:ext cx="4254023" cy="4114800"/>
          </a:xfrm>
          <a:custGeom>
            <a:avLst/>
            <a:gdLst/>
            <a:ahLst/>
            <a:cxnLst/>
            <a:rect r="r" b="b" t="t" l="l"/>
            <a:pathLst>
              <a:path h="4114800" w="4254023">
                <a:moveTo>
                  <a:pt x="0" y="0"/>
                </a:moveTo>
                <a:lnTo>
                  <a:pt x="4254022" y="0"/>
                </a:lnTo>
                <a:lnTo>
                  <a:pt x="42540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102160"/>
            <a:ext cx="17881932" cy="181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TOP TEN CITIES WITH THE MOST AFFORDABLE RESTAURANTS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328065" y="818868"/>
            <a:ext cx="10725359" cy="982926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50145" y="-9769"/>
            <a:ext cx="15544725" cy="1366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5"/>
              </a:lnSpc>
            </a:pPr>
            <a:r>
              <a:rPr lang="en-US" b="true" sz="393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PIE CHART REPRESENTS THE CITIES WITH MOST EXPENSIVE AND MOST AFFORDABLE RESTAURANTS.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9775" y="3463347"/>
            <a:ext cx="10602119" cy="626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following cities have the highest restaurants ratings: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Bangalore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Gurgaon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Hyderabad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Secunderabad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Mumbai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Chennai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New Delhi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Kolkata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Pune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  <a:r>
              <a:rPr lang="en-US" sz="295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Chandigarh</a:t>
            </a:r>
          </a:p>
          <a:p>
            <a:pPr algn="l" marL="637087" indent="-318544" lvl="1">
              <a:lnSpc>
                <a:spcPts val="4131"/>
              </a:lnSpc>
              <a:buFont typeface="Arial"/>
              <a:buChar char="•"/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18332" y="508312"/>
            <a:ext cx="11782483" cy="1819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6"/>
              </a:lnSpc>
            </a:pPr>
            <a:r>
              <a:rPr lang="en-US" b="true" sz="5226">
                <a:solidFill>
                  <a:srgbClr val="FDA7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TOP TEN CITIES WITH THE HIGHEST RESTAURANT RATINGS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49903" y="3530577"/>
            <a:ext cx="10123651" cy="586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9"/>
              </a:lnSpc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following cties have the lowest restaurants ratings: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Palakkad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Alappuzha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Kharagpur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Darjeeling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Pushkar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Gangtok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Srinagar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Nainital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Ooty</a:t>
            </a:r>
          </a:p>
          <a:p>
            <a:pPr algn="l" marL="599875" indent="-299937" lvl="1">
              <a:lnSpc>
                <a:spcPts val="3889"/>
              </a:lnSpc>
              <a:buFont typeface="Arial"/>
              <a:buChar char="•"/>
            </a:pPr>
            <a:r>
              <a:rPr lang="en-US" sz="277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Nayagaon</a:t>
            </a:r>
          </a:p>
          <a:p>
            <a:pPr algn="ctr">
              <a:lnSpc>
                <a:spcPts val="388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259103"/>
            <a:ext cx="17487349" cy="158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8"/>
              </a:lnSpc>
            </a:pPr>
            <a:r>
              <a:rPr lang="en-US" b="true" sz="4598">
                <a:solidFill>
                  <a:srgbClr val="FDA7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TOP TEN CITIES WITH THE LOWEST RESTAURANT RATINGS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B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45428"/>
            <a:ext cx="17259300" cy="150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b="true" sz="4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PIE CHART REPRESENTS THE CITIES WITH THE HIGHEST AND LOWEST RESTAURANT RATINGS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71655" y="931820"/>
            <a:ext cx="12532462" cy="101248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327" y="30363"/>
            <a:ext cx="5153008" cy="128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9"/>
              </a:lnSpc>
            </a:pPr>
            <a:r>
              <a:rPr lang="en-US" sz="7528" b="true">
                <a:solidFill>
                  <a:srgbClr val="FDA7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sz="7528" b="true">
                <a:solidFill>
                  <a:srgbClr val="FDA71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12557" y="3500657"/>
            <a:ext cx="14015669" cy="591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862" indent="-329931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number of restaurants should be increase. Specifically for the     cities like</a:t>
            </a:r>
            <a:r>
              <a:rPr lang="en-US" sz="3056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 Gurgaon,Hydrabad ,Kolkata,pune,New delhi,Secunderabad, where the overall rating of the restaurants is good</a:t>
            </a:r>
          </a:p>
          <a:p>
            <a:pPr algn="l">
              <a:lnSpc>
                <a:spcPts val="4278"/>
              </a:lnSpc>
            </a:pPr>
          </a:p>
          <a:p>
            <a:pPr algn="l" marL="659862" indent="-329931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Reduce the average cost for two meals in the cities where overall prices are high.Mainly for Mumbai,as the overall ratings and quantity of restaurants are high.</a:t>
            </a:r>
          </a:p>
          <a:p>
            <a:pPr algn="l">
              <a:lnSpc>
                <a:spcPts val="4278"/>
              </a:lnSpc>
            </a:pPr>
          </a:p>
          <a:p>
            <a:pPr algn="l" marL="659862" indent="-329931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The overall rating of some cities is very poor.We should improve the quality and facilities of restaurants. </a:t>
            </a:r>
          </a:p>
          <a:p>
            <a:pPr algn="l">
              <a:lnSpc>
                <a:spcPts val="4278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B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68638" y="4274503"/>
            <a:ext cx="67507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FDA715"/>
                </a:solidFill>
                <a:latin typeface="Canva Sans"/>
                <a:ea typeface="Canva Sans"/>
                <a:cs typeface="Canva Sans"/>
                <a:sym typeface="Canva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DAFeOGz4Zfg</dc:identifier>
  <dcterms:modified xsi:type="dcterms:W3CDTF">2011-08-01T06:04:30Z</dcterms:modified>
  <cp:revision>1</cp:revision>
  <dc:title>Research Proposal Business Presentation in Dark Green Orange Geometric Style</dc:title>
</cp:coreProperties>
</file>